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3" r:id="rId4"/>
    <p:sldId id="260" r:id="rId5"/>
    <p:sldId id="261" r:id="rId6"/>
    <p:sldId id="264" r:id="rId7"/>
    <p:sldId id="262" r:id="rId8"/>
    <p:sldId id="265" r:id="rId9"/>
    <p:sldId id="266" r:id="rId10"/>
    <p:sldId id="272" r:id="rId11"/>
    <p:sldId id="273" r:id="rId12"/>
    <p:sldId id="267" r:id="rId13"/>
    <p:sldId id="274" r:id="rId14"/>
    <p:sldId id="275" r:id="rId15"/>
    <p:sldId id="276" r:id="rId16"/>
    <p:sldId id="277" r:id="rId17"/>
    <p:sldId id="278" r:id="rId18"/>
    <p:sldId id="268" r:id="rId19"/>
    <p:sldId id="269" r:id="rId20"/>
    <p:sldId id="270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5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Разбивка данных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Лист1!$A$2:$A$5</c:f>
              <c:strCache>
                <c:ptCount val="2"/>
                <c:pt idx="0">
                  <c:v>Train</c:v>
                </c:pt>
                <c:pt idx="1">
                  <c:v>Hold-out (test)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/>
            </c:ext>
            <c:ext xmlns:c16="http://schemas.microsoft.com/office/drawing/2014/chart" uri="{C3380CC4-5D6E-409C-BE32-E72D297353CC}">
              <c16:uniqueId val="{00000000-1B6C-4098-98B2-DC2AE92303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ABF010-6671-95B8-60D0-058E5374D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B2CA59A-9581-BC5A-5CE6-C80FAAB70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2E352B-64DC-8D1F-B71B-CC3A3FE14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FDFC1-816C-4205-BC89-A087EDACC818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1081AE-3165-2DF3-8804-3DEBCFA84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11CD18-C278-0D4D-6012-C9618332D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7F40D-915E-40B8-BAB9-17198DAA5F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5549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AC14EC-C35C-5F0F-E155-E483394D8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1AB46A-E1B7-6F07-CFDD-0263E2557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942067-6DFE-C0EF-4C2C-847B03D46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FDFC1-816C-4205-BC89-A087EDACC818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DE84FA-E7AE-2BBA-EF62-3FCDD5E34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1BC79A-A336-9B29-167C-465EECB7F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7F40D-915E-40B8-BAB9-17198DAA5F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8772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5ADD6A-E664-4479-456C-8FC1F2DA1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458606-0BDE-DEA2-5950-461891D5B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BEEA9A-448D-A094-FFC2-CC25F66CD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FDFC1-816C-4205-BC89-A087EDACC818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D6D4D0-7D0E-67EB-8025-44FF7DD92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6E0098-9DC6-B826-6976-DB7B108F2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7F40D-915E-40B8-BAB9-17198DAA5F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934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EA7317-3D66-DACB-492A-6B6B2631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03F265-E5DE-44C6-355C-5AD23142E1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834B37A-3345-1BA1-1A47-7B85EBE5F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A48365D-E866-2FD1-6A92-1AF3ECA5F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FDFC1-816C-4205-BC89-A087EDACC818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28CE195-201C-F095-1919-E2F0EAE75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1B1DF6D-31D3-C72C-AC5F-D058BEFE0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7F40D-915E-40B8-BAB9-17198DAA5F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6853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544FAC-7B87-5E94-D451-981857C2B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95860F3-D328-E42F-3D55-F78B42384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CA71781-5CB8-9148-8472-BD779700A4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81C01D-063E-9045-5469-EA42BCFF4D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45E63AF-61FA-62D1-1F19-2AF97DFB27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392A8A3-C3B6-4ABE-CF9D-C9130B2CB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FDFC1-816C-4205-BC89-A087EDACC818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4997C2B-617B-6681-5D79-C3467AE9B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AC577BE-9703-5A8A-A9AA-53B4D6B2F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7F40D-915E-40B8-BAB9-17198DAA5F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236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B394DC-1561-671D-267D-7351BEAB9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FFEB28B-3668-2500-3418-1F3A19570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FDFC1-816C-4205-BC89-A087EDACC818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4160599-6646-C609-162B-C26065B15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A901310-A6FB-4B7B-EE13-1A5E8F456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7F40D-915E-40B8-BAB9-17198DAA5F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6497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205BA88-028A-7ADE-47E1-B852A39CD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FDFC1-816C-4205-BC89-A087EDACC818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B754B85-4A68-D0D4-1781-2805F2E5D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225D8A3-2831-976E-E2B4-E50383341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7F40D-915E-40B8-BAB9-17198DAA5F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7898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5D401F-0D16-A29F-AA5E-E06D6D8B8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7444BB-7B84-5DD3-2293-7BD3FD9B7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DA89D36-0C76-9D86-46EB-EBAEDEAEF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A1454EE-66E3-E1A9-5471-C742BB538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FDFC1-816C-4205-BC89-A087EDACC818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FC068E3-9033-5877-0CFD-A8CBCCEF5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C3C1DB8-52AF-625D-C7FD-0A8C8E945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7F40D-915E-40B8-BAB9-17198DAA5F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1352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51CFAE-4283-76D7-B274-E78AA94FD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5FAD5EB-0F59-68F9-F28A-856DDE6DF2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6E7A0C-ECDD-8339-0CF4-767E965FAC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DD8A42E-F267-A233-2422-AE834DFA6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FDFC1-816C-4205-BC89-A087EDACC818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5CCEC2F-8844-2A35-FF90-E530B1C35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FB832FF-991F-30CB-D0EF-3D08457CF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7F40D-915E-40B8-BAB9-17198DAA5F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516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E7F242-47B9-57F7-BC04-F9DCCD593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2270FC0-C6C6-20B0-8FF0-B71DE6558D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58E591-6AEC-A4BD-3411-3E7FF7696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FDFC1-816C-4205-BC89-A087EDACC818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F2C378-08B9-FA6C-3BBE-3F199A981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BDCD0B-A9E3-384C-577F-A05C5420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7F40D-915E-40B8-BAB9-17198DAA5F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0760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8D76B2A-CEB5-D50A-C5F6-CB20F89400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9B27426-A273-AB66-2734-4CA17E47A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8BEE9E-9FCE-9A42-8666-BDDB66F0C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FDFC1-816C-4205-BC89-A087EDACC818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593643-31D6-310E-0AD0-5671F17B1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B202FA-37C1-DBEA-C2FE-B5BDB403B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7F40D-915E-40B8-BAB9-17198DAA5F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737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FA7DE3-7BA8-0443-BA73-8E1D53645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56B8AA-3350-393C-D436-A08ECD206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6194FB-4D3A-AA57-0182-B7614DED0F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FDFC1-816C-4205-BC89-A087EDACC818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62FB4A-86E5-0564-EDA4-2E848E8E21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C60F08-E686-152F-D5E5-689E82969C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7F40D-915E-40B8-BAB9-17198DAA5F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7868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D7E65A-871F-2A60-6D2C-B7015E200F5D}"/>
              </a:ext>
            </a:extLst>
          </p:cNvPr>
          <p:cNvSpPr txBox="1"/>
          <p:nvPr/>
        </p:nvSpPr>
        <p:spPr>
          <a:xfrm>
            <a:off x="2249864" y="2274838"/>
            <a:ext cx="76922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Построение модели машинного обучения для прогнозирования дефектов в производстве полупроводников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08D5EB-7417-FA7E-4753-8BA0413A3788}"/>
              </a:ext>
            </a:extLst>
          </p:cNvPr>
          <p:cNvSpPr txBox="1"/>
          <p:nvPr/>
        </p:nvSpPr>
        <p:spPr>
          <a:xfrm>
            <a:off x="122548" y="5806912"/>
            <a:ext cx="66093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Курсовая работа по дисциплине «Методы машинного обучения»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Студент: Шегай Павел Игоревич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Группа: ИУ6-65Б</a:t>
            </a:r>
          </a:p>
        </p:txBody>
      </p:sp>
    </p:spTree>
    <p:extLst>
      <p:ext uri="{BB962C8B-B14F-4D97-AF65-F5344CB8AC3E}">
        <p14:creationId xmlns:p14="http://schemas.microsoft.com/office/powerpoint/2010/main" val="4245549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4DD2EA-9254-903B-D3B7-AED86C53A3B8}"/>
              </a:ext>
            </a:extLst>
          </p:cNvPr>
          <p:cNvSpPr txBox="1"/>
          <p:nvPr/>
        </p:nvSpPr>
        <p:spPr>
          <a:xfrm>
            <a:off x="473697" y="1039223"/>
            <a:ext cx="8613743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Bef>
                <a:spcPts val="750"/>
              </a:spcBef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 качества в производстве полупроводников требует высокой точности</a:t>
            </a:r>
          </a:p>
          <a:p>
            <a:pPr marL="342900" indent="-342900" algn="l">
              <a:spcBef>
                <a:spcPts val="750"/>
              </a:spcBef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Пропуск дефектного изделия приводит к финансовым потерям</a:t>
            </a:r>
          </a:p>
          <a:p>
            <a:pPr marL="342900" indent="-342900" algn="l">
              <a:spcBef>
                <a:spcPts val="750"/>
              </a:spcBef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Современные линии генерируют большие объемы данных</a:t>
            </a:r>
          </a:p>
          <a:p>
            <a:pPr marL="342900" indent="-342900" algn="l">
              <a:spcBef>
                <a:spcPts val="750"/>
              </a:spcBef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Машинное обучение позволяет автоматизировать поиск дефектов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87CC43-262C-FF91-1411-F5CBB46E191B}"/>
              </a:ext>
            </a:extLst>
          </p:cNvPr>
          <p:cNvSpPr txBox="1"/>
          <p:nvPr/>
        </p:nvSpPr>
        <p:spPr>
          <a:xfrm>
            <a:off x="473697" y="349040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задачи</a:t>
            </a:r>
          </a:p>
        </p:txBody>
      </p:sp>
    </p:spTree>
    <p:extLst>
      <p:ext uri="{BB962C8B-B14F-4D97-AF65-F5344CB8AC3E}">
        <p14:creationId xmlns:p14="http://schemas.microsoft.com/office/powerpoint/2010/main" val="1980746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F1841-9FD6-B2AC-03FD-12A5CECDE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D2EBD2-6D74-AAFF-1A8F-387ECFC91945}"/>
              </a:ext>
            </a:extLst>
          </p:cNvPr>
          <p:cNvSpPr txBox="1"/>
          <p:nvPr/>
        </p:nvSpPr>
        <p:spPr>
          <a:xfrm>
            <a:off x="473697" y="1039223"/>
            <a:ext cx="11234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Построение классификации для обнаружения дефектов по сенсорным признакам.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68B7B5-662E-A43B-4BE2-A81DF3B21FDE}"/>
              </a:ext>
            </a:extLst>
          </p:cNvPr>
          <p:cNvSpPr txBox="1"/>
          <p:nvPr/>
        </p:nvSpPr>
        <p:spPr>
          <a:xfrm>
            <a:off x="473697" y="349040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16B9AC-9FF8-7D81-2A31-D943AE15F6A0}"/>
              </a:ext>
            </a:extLst>
          </p:cNvPr>
          <p:cNvSpPr txBox="1"/>
          <p:nvPr/>
        </p:nvSpPr>
        <p:spPr>
          <a:xfrm>
            <a:off x="473697" y="2327256"/>
            <a:ext cx="112343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5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относится к бинарной классификации с сильным дисбалансом классов. Целевая переменная принимает два значения: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⎯ изделие прошло контроль качества,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⎯ изделие не прошло контроль качества. В реализации метка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кодируется как 1,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⎯ как 0.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3F599F-8A3C-29E8-BB0F-9C24960A3B9C}"/>
              </a:ext>
            </a:extLst>
          </p:cNvPr>
          <p:cNvSpPr txBox="1"/>
          <p:nvPr/>
        </p:nvSpPr>
        <p:spPr>
          <a:xfrm>
            <a:off x="473697" y="1637073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Тип задачи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03B54F2-B7D0-7045-9D79-EBCDC61A0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97" y="3607415"/>
            <a:ext cx="3281903" cy="3039795"/>
          </a:xfrm>
          <a:prstGeom prst="roundRect">
            <a:avLst>
              <a:gd name="adj" fmla="val 10775"/>
            </a:avLst>
          </a:prstGeom>
        </p:spPr>
      </p:pic>
    </p:spTree>
    <p:extLst>
      <p:ext uri="{BB962C8B-B14F-4D97-AF65-F5344CB8AC3E}">
        <p14:creationId xmlns:p14="http://schemas.microsoft.com/office/powerpoint/2010/main" val="1315211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6BA387-647A-FF01-9AFF-45A496032A59}"/>
              </a:ext>
            </a:extLst>
          </p:cNvPr>
          <p:cNvSpPr txBox="1"/>
          <p:nvPr/>
        </p:nvSpPr>
        <p:spPr>
          <a:xfrm>
            <a:off x="473697" y="349040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датасета</a:t>
            </a: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45F3A6C5-35FF-9D0F-3EC7-36A669685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547" y="1608361"/>
            <a:ext cx="2410905" cy="617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AE92C5-7D07-EF62-9114-AFBE43BF7599}"/>
              </a:ext>
            </a:extLst>
          </p:cNvPr>
          <p:cNvSpPr txBox="1"/>
          <p:nvPr/>
        </p:nvSpPr>
        <p:spPr>
          <a:xfrm>
            <a:off x="473697" y="1024867"/>
            <a:ext cx="8821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Используется открытый датасет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SECOM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UCI Machine Learning Repository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F337B2F-03BD-B8EE-D471-A60478A09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288" y="2440318"/>
            <a:ext cx="7159422" cy="370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527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405409-AF4D-C94B-3450-1B7B2D8B1D82}"/>
              </a:ext>
            </a:extLst>
          </p:cNvPr>
          <p:cNvSpPr txBox="1"/>
          <p:nvPr/>
        </p:nvSpPr>
        <p:spPr>
          <a:xfrm>
            <a:off x="473697" y="349040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Целевая переменная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9AB9A02-F116-CF1B-27D8-E2DFC29CF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4203" y="1006312"/>
            <a:ext cx="7343593" cy="123516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728B5D3-60F0-8BC1-D2CA-21EB88503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598" y="2241473"/>
            <a:ext cx="8068801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579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7978C4-0011-972B-A441-EF9C2F661D19}"/>
              </a:ext>
            </a:extLst>
          </p:cNvPr>
          <p:cNvSpPr txBox="1"/>
          <p:nvPr/>
        </p:nvSpPr>
        <p:spPr>
          <a:xfrm>
            <a:off x="473697" y="349040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Выбросы</a:t>
            </a:r>
            <a:endParaRPr lang="ru-RU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B99ED52-2481-E17B-4666-EECCBC0AC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016" y="810705"/>
            <a:ext cx="8063967" cy="5485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366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E87312-610C-2F2B-BEA9-9E3C620748EA}"/>
              </a:ext>
            </a:extLst>
          </p:cNvPr>
          <p:cNvSpPr txBox="1"/>
          <p:nvPr/>
        </p:nvSpPr>
        <p:spPr>
          <a:xfrm>
            <a:off x="473697" y="349040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числовых признаков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1D88060-5C9D-6409-6A22-9D8784ACD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914" y="1104305"/>
            <a:ext cx="9288171" cy="28960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3F1370-AEAA-5EAD-F21B-22F578198F60}"/>
              </a:ext>
            </a:extLst>
          </p:cNvPr>
          <p:cNvSpPr txBox="1"/>
          <p:nvPr/>
        </p:nvSpPr>
        <p:spPr>
          <a:xfrm>
            <a:off x="548324" y="4470737"/>
            <a:ext cx="110953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сравнения распределения сенсорных признаков между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использовался показатель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Cohen’s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d. Он представляет собой статистическую меру размера эффекта, используемую для оценки степени различия между двумя группами данных.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D71D2E0-A863-D84E-C04B-2A417EC30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900" y="5484878"/>
            <a:ext cx="1468199" cy="1024082"/>
          </a:xfrm>
          <a:prstGeom prst="roundRect">
            <a:avLst>
              <a:gd name="adj" fmla="val 22190"/>
            </a:avLst>
          </a:prstGeom>
        </p:spPr>
      </p:pic>
    </p:spTree>
    <p:extLst>
      <p:ext uri="{BB962C8B-B14F-4D97-AF65-F5344CB8AC3E}">
        <p14:creationId xmlns:p14="http://schemas.microsoft.com/office/powerpoint/2010/main" val="2370839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D581F-D606-D133-AA0A-650E79086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DA02F7-E8B9-998B-7A83-CF3D8AFF93A6}"/>
              </a:ext>
            </a:extLst>
          </p:cNvPr>
          <p:cNvSpPr txBox="1"/>
          <p:nvPr/>
        </p:nvSpPr>
        <p:spPr>
          <a:xfrm>
            <a:off x="473697" y="349040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Статистический анализ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62795F-4D34-D00F-8A7B-7C403C116FDA}"/>
              </a:ext>
            </a:extLst>
          </p:cNvPr>
          <p:cNvSpPr txBox="1"/>
          <p:nvPr/>
        </p:nvSpPr>
        <p:spPr>
          <a:xfrm>
            <a:off x="473697" y="1024867"/>
            <a:ext cx="113286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Из-за большого числа исходных признаков и малого числа объектов ожидается избыточность признакового пространства. Для снижения размерности используется метод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SelectKBest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 библиотеки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4E9C240-97D0-2C14-19DD-440AE331A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97" y="1972855"/>
            <a:ext cx="5702263" cy="441645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DE8BED6-DA8E-70AE-AE99-7D4FE670D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558" y="1972855"/>
            <a:ext cx="5842765" cy="4416458"/>
          </a:xfrm>
          <a:prstGeom prst="rect">
            <a:avLst/>
          </a:prstGeom>
        </p:spPr>
      </p:pic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000D479D-53F7-BCEC-273D-E8CA00FF2F83}"/>
              </a:ext>
            </a:extLst>
          </p:cNvPr>
          <p:cNvCxnSpPr>
            <a:cxnSpLocks/>
          </p:cNvCxnSpPr>
          <p:nvPr/>
        </p:nvCxnSpPr>
        <p:spPr>
          <a:xfrm>
            <a:off x="6890994" y="3674090"/>
            <a:ext cx="491136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0901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DEA43-8815-5C44-8812-786AB003E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6CB03D-DCAC-0C10-9B07-31917E9468C8}"/>
              </a:ext>
            </a:extLst>
          </p:cNvPr>
          <p:cNvSpPr txBox="1"/>
          <p:nvPr/>
        </p:nvSpPr>
        <p:spPr>
          <a:xfrm>
            <a:off x="473697" y="349040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Предобработка данных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3C5FD6-2EEF-06D3-3FB7-18817680B73A}"/>
              </a:ext>
            </a:extLst>
          </p:cNvPr>
          <p:cNvSpPr txBox="1"/>
          <p:nvPr/>
        </p:nvSpPr>
        <p:spPr>
          <a:xfrm>
            <a:off x="473697" y="1024867"/>
            <a:ext cx="8821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Импутация пропущенных значений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A11252E-473A-D0C3-A206-56DA1B91A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915" y="1608361"/>
            <a:ext cx="8202170" cy="4620270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755FDDD4-F790-4EC7-C2D6-100DF6D0FF04}"/>
              </a:ext>
            </a:extLst>
          </p:cNvPr>
          <p:cNvCxnSpPr>
            <a:cxnSpLocks/>
          </p:cNvCxnSpPr>
          <p:nvPr/>
        </p:nvCxnSpPr>
        <p:spPr>
          <a:xfrm flipV="1">
            <a:off x="6777872" y="1989056"/>
            <a:ext cx="0" cy="363874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4E8DC6F-9D5F-63FA-A5D7-3704103F34F6}"/>
              </a:ext>
            </a:extLst>
          </p:cNvPr>
          <p:cNvSpPr txBox="1"/>
          <p:nvPr/>
        </p:nvSpPr>
        <p:spPr>
          <a:xfrm>
            <a:off x="6539666" y="5558884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0.5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6268D1-4B80-D65F-1281-6FC499887023}"/>
              </a:ext>
            </a:extLst>
          </p:cNvPr>
          <p:cNvSpPr txBox="1"/>
          <p:nvPr/>
        </p:nvSpPr>
        <p:spPr>
          <a:xfrm>
            <a:off x="7866956" y="3623763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Удаляются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DC0068-B085-B9FE-0B90-2028243E7A53}"/>
              </a:ext>
            </a:extLst>
          </p:cNvPr>
          <p:cNvSpPr txBox="1"/>
          <p:nvPr/>
        </p:nvSpPr>
        <p:spPr>
          <a:xfrm>
            <a:off x="4263739" y="3623763"/>
            <a:ext cx="1055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Медиана</a:t>
            </a:r>
          </a:p>
        </p:txBody>
      </p:sp>
    </p:spTree>
    <p:extLst>
      <p:ext uri="{BB962C8B-B14F-4D97-AF65-F5344CB8AC3E}">
        <p14:creationId xmlns:p14="http://schemas.microsoft.com/office/powerpoint/2010/main" val="2369032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A70AC-3313-42EF-8102-18133F11A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AC5566-7469-EB3C-6E14-C37FB3D5E00F}"/>
              </a:ext>
            </a:extLst>
          </p:cNvPr>
          <p:cNvSpPr txBox="1"/>
          <p:nvPr/>
        </p:nvSpPr>
        <p:spPr>
          <a:xfrm>
            <a:off x="473697" y="349040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Предобработка данных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AD9CA2-716E-7D9B-13B5-A17A5F5E953F}"/>
              </a:ext>
            </a:extLst>
          </p:cNvPr>
          <p:cNvSpPr txBox="1"/>
          <p:nvPr/>
        </p:nvSpPr>
        <p:spPr>
          <a:xfrm>
            <a:off x="473697" y="1024867"/>
            <a:ext cx="8821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Кодирование и нормализация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F88A94-BE4F-C907-ED7A-D041088C0F43}"/>
              </a:ext>
            </a:extLst>
          </p:cNvPr>
          <p:cNvSpPr txBox="1"/>
          <p:nvPr/>
        </p:nvSpPr>
        <p:spPr>
          <a:xfrm>
            <a:off x="431669" y="1608361"/>
            <a:ext cx="11328662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Кодирование категориальных признаков не требуется. Нормализация выполняется с помощью 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StandardScaler</a:t>
            </a:r>
            <a:r>
              <a:rPr lang="ru-RU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так как признаки имеют разные масштабы.</a:t>
            </a:r>
          </a:p>
        </p:txBody>
      </p:sp>
    </p:spTree>
    <p:extLst>
      <p:ext uri="{BB962C8B-B14F-4D97-AF65-F5344CB8AC3E}">
        <p14:creationId xmlns:p14="http://schemas.microsoft.com/office/powerpoint/2010/main" val="1728571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C46F5-B53B-36F1-93FE-8F1A39A6B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C18672-B4C6-EC6B-E546-2843474EA7F2}"/>
              </a:ext>
            </a:extLst>
          </p:cNvPr>
          <p:cNvSpPr txBox="1"/>
          <p:nvPr/>
        </p:nvSpPr>
        <p:spPr>
          <a:xfrm>
            <a:off x="473697" y="349040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Предобработка данных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4E1853-3B76-6EE3-9A7D-E8CAC4AB8585}"/>
              </a:ext>
            </a:extLst>
          </p:cNvPr>
          <p:cNvSpPr txBox="1"/>
          <p:nvPr/>
        </p:nvSpPr>
        <p:spPr>
          <a:xfrm>
            <a:off x="473697" y="1024867"/>
            <a:ext cx="8821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Разбивка данных</a:t>
            </a: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486BA83B-F79A-B7EE-2AFC-1A1FC79820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7883499"/>
              </p:ext>
            </p:extLst>
          </p:nvPr>
        </p:nvGraphicFramePr>
        <p:xfrm>
          <a:off x="2657835" y="1608361"/>
          <a:ext cx="6876330" cy="46729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53636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46851-AD7D-D8BD-8044-8631A53D2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738E2E-9A64-9D19-95A4-612F8579F2E6}"/>
              </a:ext>
            </a:extLst>
          </p:cNvPr>
          <p:cNvSpPr txBox="1"/>
          <p:nvPr/>
        </p:nvSpPr>
        <p:spPr>
          <a:xfrm>
            <a:off x="473697" y="1024867"/>
            <a:ext cx="111212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Гипотеза H1 заключалась в том, что даже простая линейная модель сможет выделить информативные сенсорные признаки и обеспечить приемлемое качество обнаружения дефектов.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5062C4-35B7-451F-D002-FAA83357B5B7}"/>
              </a:ext>
            </a:extLst>
          </p:cNvPr>
          <p:cNvSpPr txBox="1"/>
          <p:nvPr/>
        </p:nvSpPr>
        <p:spPr>
          <a:xfrm>
            <a:off x="473697" y="349040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Гипотеза </a:t>
            </a:r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H1: Logistic Regression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309344-AAB3-FBFC-4BDD-24128837E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880" y="2468854"/>
            <a:ext cx="5570240" cy="426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42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2BBDD-433D-3048-3649-DC0DC7547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36947A-0A36-29DE-9E53-6FBF48066EBD}"/>
              </a:ext>
            </a:extLst>
          </p:cNvPr>
          <p:cNvSpPr txBox="1"/>
          <p:nvPr/>
        </p:nvSpPr>
        <p:spPr>
          <a:xfrm>
            <a:off x="473697" y="1024867"/>
            <a:ext cx="111212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Гипотеза H2 состояла в том, что даже при упрощённом предположении независимости признаков статистические различия между классами могут быть достаточными для обнаружения части дефектных объектов.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39E6886-B694-FFB3-ED6B-92DEA19EF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880" y="2411801"/>
            <a:ext cx="5570240" cy="43176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90F18E-D39E-0104-2F53-7FEEFA2EC93A}"/>
              </a:ext>
            </a:extLst>
          </p:cNvPr>
          <p:cNvSpPr txBox="1"/>
          <p:nvPr/>
        </p:nvSpPr>
        <p:spPr>
          <a:xfrm>
            <a:off x="473697" y="349040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Гипотеза </a:t>
            </a:r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H2: Gaussian Naive Bayes</a:t>
            </a:r>
          </a:p>
        </p:txBody>
      </p:sp>
    </p:spTree>
    <p:extLst>
      <p:ext uri="{BB962C8B-B14F-4D97-AF65-F5344CB8AC3E}">
        <p14:creationId xmlns:p14="http://schemas.microsoft.com/office/powerpoint/2010/main" val="1961114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41A6F-5B62-8E7C-CA2B-904595FE7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7B40FB-A162-140B-27A6-1C3D7F409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4423" y="2411801"/>
            <a:ext cx="5603154" cy="43176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91D95B-E741-0E0F-84E5-B7ADE92DF391}"/>
              </a:ext>
            </a:extLst>
          </p:cNvPr>
          <p:cNvSpPr txBox="1"/>
          <p:nvPr/>
        </p:nvSpPr>
        <p:spPr>
          <a:xfrm>
            <a:off x="473697" y="1024867"/>
            <a:ext cx="111212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Гипотеза H3 предполагала, что после уменьшения размерности и стандартизации данных дефектные объекты будут формировать локальные области, которые можно обнаружить через анализ ближайших соседей.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B440BF-DBD3-AED7-EA30-C7EFA8C16D40}"/>
              </a:ext>
            </a:extLst>
          </p:cNvPr>
          <p:cNvSpPr txBox="1"/>
          <p:nvPr/>
        </p:nvSpPr>
        <p:spPr>
          <a:xfrm>
            <a:off x="473697" y="349040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Гипотеза </a:t>
            </a:r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H3: KNN</a:t>
            </a:r>
          </a:p>
        </p:txBody>
      </p:sp>
    </p:spTree>
    <p:extLst>
      <p:ext uri="{BB962C8B-B14F-4D97-AF65-F5344CB8AC3E}">
        <p14:creationId xmlns:p14="http://schemas.microsoft.com/office/powerpoint/2010/main" val="2532009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4C9E5-6E80-1F50-7196-CBD5D92E6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F3E1BC-2D91-9828-6100-D7580CF0F9CF}"/>
              </a:ext>
            </a:extLst>
          </p:cNvPr>
          <p:cNvSpPr txBox="1"/>
          <p:nvPr/>
        </p:nvSpPr>
        <p:spPr>
          <a:xfrm>
            <a:off x="473697" y="1024867"/>
            <a:ext cx="111212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Гипотеза H4 заключалась в том, что дефекты могут определяться комбинациями простых пороговых условий по сенсорным измерениям, которые дерево сможет автоматически выделить.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048D146-F5C1-54AC-3081-CBB019C34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880" y="2411801"/>
            <a:ext cx="5570240" cy="43176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71BF41-D049-D4F6-576E-7838C5C0A5C5}"/>
              </a:ext>
            </a:extLst>
          </p:cNvPr>
          <p:cNvSpPr txBox="1"/>
          <p:nvPr/>
        </p:nvSpPr>
        <p:spPr>
          <a:xfrm>
            <a:off x="473697" y="349040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Гипотеза </a:t>
            </a:r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H4: Decision Tree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75E5A8F-423B-C171-CE0D-AEAF880DE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009" y="2269289"/>
            <a:ext cx="6864232" cy="446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807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5B71A-7B4A-3793-7F7D-B73E8F972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A4D7FC-DA33-A89E-6132-EAEDA1850F5A}"/>
              </a:ext>
            </a:extLst>
          </p:cNvPr>
          <p:cNvSpPr txBox="1"/>
          <p:nvPr/>
        </p:nvSpPr>
        <p:spPr>
          <a:xfrm>
            <a:off x="473697" y="1024867"/>
            <a:ext cx="111212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Гипотеза H5 состояла в том, что ансамбль деревьев сможет лучше выявлять сложные нелинейные закономерности и взаимодействия сенсорных признаков по сравнению с линейными моделями и одиночным деревом решений.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78F82C0-1A94-891A-0BFB-741526E61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880" y="2411801"/>
            <a:ext cx="5570240" cy="43176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2CF210-9A51-9C3A-671A-50C73C9DA111}"/>
              </a:ext>
            </a:extLst>
          </p:cNvPr>
          <p:cNvSpPr txBox="1"/>
          <p:nvPr/>
        </p:nvSpPr>
        <p:spPr>
          <a:xfrm>
            <a:off x="473697" y="349040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Гипотеза </a:t>
            </a:r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H5: Random Forrest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FCD9889-35A5-2BA8-75DE-D866E0DF2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8328" y="2282898"/>
            <a:ext cx="6779593" cy="444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739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8FFB1-C23D-8931-6163-4BF854B68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5F2BAB-379E-2B35-C1C1-1EAA8AA80C3F}"/>
              </a:ext>
            </a:extLst>
          </p:cNvPr>
          <p:cNvSpPr txBox="1"/>
          <p:nvPr/>
        </p:nvSpPr>
        <p:spPr>
          <a:xfrm>
            <a:off x="473697" y="1024867"/>
            <a:ext cx="111212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Гипотеза H6 предполагала, что градиентный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бустинг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сможет лучше обнаруживать сложные комбинации сенсорных отклонений, характерные для класса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 производственных процессах дефекты редко определяются одним параметром. Ансамблевые модели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бустинга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хорошо подходят для выявления подобных взаимодействий признаков.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CF40182-D3A0-BF5A-FFE9-162990CBD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880" y="2411801"/>
            <a:ext cx="5570240" cy="43176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833F16-1D25-6083-2124-AA2413ACC02D}"/>
              </a:ext>
            </a:extLst>
          </p:cNvPr>
          <p:cNvSpPr txBox="1"/>
          <p:nvPr/>
        </p:nvSpPr>
        <p:spPr>
          <a:xfrm>
            <a:off x="473697" y="349040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Гипотеза </a:t>
            </a:r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H6: </a:t>
            </a:r>
            <a:r>
              <a:rPr lang="en-US" sz="24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endParaRPr lang="en-US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335D5EB-18CE-4BC7-0BD8-BDE909F2A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3846" y="2329713"/>
            <a:ext cx="6280973" cy="439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510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89016-4D71-9910-128B-4AAC9BFA2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EAEE76-6D02-47E4-2932-91BCB8A9167D}"/>
              </a:ext>
            </a:extLst>
          </p:cNvPr>
          <p:cNvSpPr txBox="1"/>
          <p:nvPr/>
        </p:nvSpPr>
        <p:spPr>
          <a:xfrm>
            <a:off x="473697" y="349040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Лучшая модель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BAC41E-9379-DD95-8B25-5FB70E976B6E}"/>
              </a:ext>
            </a:extLst>
          </p:cNvPr>
          <p:cNvSpPr txBox="1"/>
          <p:nvPr/>
        </p:nvSpPr>
        <p:spPr>
          <a:xfrm>
            <a:off x="473697" y="1024867"/>
            <a:ext cx="11479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Наиболее высокий результат по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Balanced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показала логистическая регрессия с L1-регуляризацией.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EB163BE-951B-27B6-57DC-B2AA2905E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120" y="2184549"/>
            <a:ext cx="8916644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4821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EED7F-3795-9938-1772-CD0338F2B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AC915D-55AA-3C4A-A3C6-DC2560A9B500}"/>
              </a:ext>
            </a:extLst>
          </p:cNvPr>
          <p:cNvSpPr txBox="1"/>
          <p:nvPr/>
        </p:nvSpPr>
        <p:spPr>
          <a:xfrm>
            <a:off x="473697" y="349040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не </a:t>
            </a:r>
            <a:r>
              <a:rPr lang="en-US" sz="24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endParaRPr lang="ru-RU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467090D-C985-75FC-0B73-7FFBEB7B83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9290" y="1405865"/>
            <a:ext cx="7673419" cy="510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5679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95EA8-B350-1631-A058-06A6D747D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357E08-8B95-9279-6109-831B75167724}"/>
              </a:ext>
            </a:extLst>
          </p:cNvPr>
          <p:cNvSpPr txBox="1"/>
          <p:nvPr/>
        </p:nvSpPr>
        <p:spPr>
          <a:xfrm>
            <a:off x="473697" y="349040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Финальная оценка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F6F7352-64BA-E88D-6E63-63A163DA2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2263" y="810705"/>
            <a:ext cx="5506039" cy="309793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D5B03B8-D16D-8DE9-9836-AB45A9471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394" y="3908636"/>
            <a:ext cx="6719737" cy="252206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A28786E-DE31-F6E4-74D8-C729C5EF7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912" y="968573"/>
            <a:ext cx="3421260" cy="278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773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997</TotalTime>
  <Words>442</Words>
  <Application>Microsoft Office PowerPoint</Application>
  <PresentationFormat>Широкоэкранный</PresentationFormat>
  <Paragraphs>48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Павел Шегай</dc:creator>
  <cp:lastModifiedBy>Павел Шегай</cp:lastModifiedBy>
  <cp:revision>20</cp:revision>
  <dcterms:created xsi:type="dcterms:W3CDTF">2026-05-18T13:15:03Z</dcterms:created>
  <dcterms:modified xsi:type="dcterms:W3CDTF">2026-05-27T23:29:01Z</dcterms:modified>
</cp:coreProperties>
</file>